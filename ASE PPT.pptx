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008991"/>
                </a:solidFill>
                <a:latin typeface="Aptos"/>
              </a:defRPr>
            </a:pPr>
            <a:r>
              <a:t>ADAPTIVE SOFTWARE ENGINEERING  |  COURSE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2700" b="1">
                <a:solidFill>
                  <a:srgbClr val="16304E"/>
                </a:solidFill>
                <a:latin typeface="Aptos"/>
              </a:defRPr>
            </a:pPr>
            <a:r>
              <a:t>Context-Aware Self-Healing Distributed Systems</a:t>
            </a:r>
            <a:br/>
            <a:r>
              <a:t>Using Generative Graph Neural Networks for</a:t>
            </a:r>
            <a:br/>
            <a:r>
              <a:t>Dynamic Fault Remediation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907792"/>
            <a:ext cx="2651760" cy="5486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33272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008991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611880"/>
            <a:ext cx="516636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11880"/>
            <a:ext cx="73152" cy="7132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703320"/>
            <a:ext cx="4892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Ch. Aditya  |  2420030669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069080"/>
            <a:ext cx="489204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AI Architect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11880"/>
            <a:ext cx="516636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3611880"/>
            <a:ext cx="73152" cy="713232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3703320"/>
            <a:ext cx="4892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A. Aaryan  |  2420090098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4069080"/>
            <a:ext cx="489204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Telemetry &amp; Knowledge Base Lead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80560"/>
            <a:ext cx="516636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80560"/>
            <a:ext cx="73152" cy="71323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4572000"/>
            <a:ext cx="4892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K. Gokul  |  2420030716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937760"/>
            <a:ext cx="489204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Control Loop &amp; Actuation Engineer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480560"/>
            <a:ext cx="5166360" cy="71323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480560"/>
            <a:ext cx="73152" cy="713232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4572000"/>
            <a:ext cx="4892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Nishanth  |  2420030679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4937760"/>
            <a:ext cx="489204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Chaos Engineering &amp; Benchmark Lead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5C6C7A"/>
                </a:solidFill>
                <a:latin typeface="Aptos"/>
              </a:defRPr>
            </a:pPr>
            <a:r>
              <a:t>Course Coordinator: G. Lavanya     •     Department of CSE     •     A.Y. 2026–2027</a:t>
            </a:r>
          </a:p>
        </p:txBody>
      </p:sp>
      <p:pic>
        <p:nvPicPr>
          <p:cNvPr id="25" name="Picture 24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607040" cy="82296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defRPr sz="2000" b="0">
                <a:solidFill>
                  <a:srgbClr val="25303C"/>
                </a:solidFill>
                <a:latin typeface="Aptos"/>
              </a:defRPr>
            </a:pPr>
            <a:r>
              <a:t>Cloud-native distributed systems contain many connected microservices. A fault in one component can spread to others and cause service degradation or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47472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73152" cy="2011680"/>
          </a:xfrm>
          <a:prstGeom prst="rect">
            <a:avLst/>
          </a:prstGeom>
          <a:solidFill>
            <a:srgbClr val="B14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51460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Cascading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3200400" cy="1490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25303C"/>
                </a:solidFill>
                <a:latin typeface="Aptos"/>
              </a:defRPr>
            </a:pPr>
            <a:r>
              <a:t>A local component failure can affect dependent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423160"/>
            <a:ext cx="347472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2423160"/>
            <a:ext cx="73152" cy="2011680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51460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Limited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200400" cy="1490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25303C"/>
                </a:solidFill>
                <a:latin typeface="Aptos"/>
              </a:defRPr>
            </a:pPr>
            <a:r>
              <a:t>Static threshold monitoring may miss complex relationships across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423160"/>
            <a:ext cx="347472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423160"/>
            <a:ext cx="73152" cy="2011680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51460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Slow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880360"/>
            <a:ext cx="3200400" cy="1490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25303C"/>
                </a:solidFill>
                <a:latin typeface="Aptos"/>
              </a:defRPr>
            </a:pPr>
            <a:r>
              <a:t>Manual diagnosis and remediation can prolong downtime.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defRPr sz="1800" b="1">
                <a:solidFill>
                  <a:srgbClr val="16304E"/>
                </a:solidFill>
                <a:latin typeface="Aptos"/>
              </a:defRPr>
            </a:pPr>
            <a:r>
              <a:t>Need: an autonomous framework that detects faults, locates root causes, and applies context-aware remediation.</a:t>
            </a:r>
          </a:p>
        </p:txBody>
      </p:sp>
      <p:pic>
        <p:nvPicPr>
          <p:cNvPr id="20" name="Picture 19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097280"/>
            <a:ext cx="10332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097280"/>
            <a:ext cx="73152" cy="80467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188720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1. Monitor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554480"/>
            <a:ext cx="100584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5303C"/>
                </a:solidFill>
                <a:latin typeface="Aptos"/>
              </a:defRPr>
            </a:pPr>
            <a:r>
              <a:t>Collect CPU, memory, latency, and service-call telemetry at 100 ms intervals.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84832"/>
            <a:ext cx="10332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084832"/>
            <a:ext cx="73152" cy="804672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176272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2. Detect and localize faults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542032"/>
            <a:ext cx="100584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5303C"/>
                </a:solidFill>
                <a:latin typeface="Aptos"/>
              </a:defRPr>
            </a:pPr>
            <a:r>
              <a:t>Use graph-based learning to identify anomalies and likely root causes.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72384"/>
            <a:ext cx="10332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072384"/>
            <a:ext cx="73152" cy="80467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163824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3. Predict failure propagation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529584"/>
            <a:ext cx="100584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5303C"/>
                </a:solidFill>
                <a:latin typeface="Aptos"/>
              </a:defRPr>
            </a:pPr>
            <a:r>
              <a:t>Model dependencies between distributed microservices.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059936"/>
            <a:ext cx="10332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059936"/>
            <a:ext cx="73152" cy="804672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151376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4. Plan and execute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517136"/>
            <a:ext cx="100584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5303C"/>
                </a:solidFill>
                <a:latin typeface="Aptos"/>
              </a:defRPr>
            </a:pPr>
            <a:r>
              <a:t>Generate actions such as container rescheduling, circuit breaking, and traffic rerouting.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47488"/>
            <a:ext cx="10332720" cy="804672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5047488"/>
            <a:ext cx="73152" cy="80467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138928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5. Validate resilience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504688"/>
            <a:ext cx="1005840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>
                <a:solidFill>
                  <a:srgbClr val="25303C"/>
                </a:solidFill>
                <a:latin typeface="Aptos"/>
              </a:defRPr>
            </a:pPr>
            <a:r>
              <a:t>Evaluate recovery using chaos engineering, MTTR, latency, and availability measures.</a:t>
            </a:r>
          </a:p>
        </p:txBody>
      </p:sp>
      <p:pic>
        <p:nvPicPr>
          <p:cNvPr id="26" name="Picture 25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900" b="1">
                <a:solidFill>
                  <a:srgbClr val="16304E"/>
                </a:solidFill>
                <a:latin typeface="Aptos"/>
              </a:defRPr>
            </a:pPr>
            <a:r>
              <a:t>Conventional monitoring commonly relies on predefined thresholds and operator-led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21945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73152" cy="2194560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Static threshold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200400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25303C"/>
                </a:solidFill>
                <a:latin typeface="Aptos"/>
              </a:defRPr>
            </a:pPr>
            <a:r>
              <a:t>Triggers alerts when CPU, memory, or latency crosses a configured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65960"/>
            <a:ext cx="3474720" cy="21945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965960"/>
            <a:ext cx="73152" cy="2194560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205740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Manual root-cause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423160"/>
            <a:ext cx="3200400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25303C"/>
                </a:solidFill>
                <a:latin typeface="Aptos"/>
              </a:defRPr>
            </a:pPr>
            <a:r>
              <a:t>Operators inspect logs, metrics, and service dependencies to locate faults.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965960"/>
            <a:ext cx="3474720" cy="21945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1965960"/>
            <a:ext cx="73152" cy="2194560"/>
          </a:xfrm>
          <a:prstGeom prst="rect">
            <a:avLst/>
          </a:prstGeom>
          <a:solidFill>
            <a:srgbClr val="B14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05740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Manual remediation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423160"/>
            <a:ext cx="3200400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0">
                <a:solidFill>
                  <a:srgbClr val="25303C"/>
                </a:solidFill>
                <a:latin typeface="Aptos"/>
              </a:defRPr>
            </a:pPr>
            <a:r>
              <a:t>Recovery actions are often selected and applied by an operator.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ctr">
              <a:defRPr sz="1800" b="0">
                <a:solidFill>
                  <a:srgbClr val="25303C"/>
                </a:solidFill>
                <a:latin typeface="Aptos"/>
              </a:defRPr>
            </a:pPr>
            <a:r>
              <a:t>Limitation: isolated thresholds do not fully represent changing service dependencies or predict how a fault may propagate.</a:t>
            </a:r>
          </a:p>
        </p:txBody>
      </p:sp>
      <p:pic>
        <p:nvPicPr>
          <p:cNvPr id="20" name="Picture 19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Research Gap /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78992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16304E"/>
                </a:solidFill>
                <a:latin typeface="Aptos"/>
              </a:defRPr>
            </a:pPr>
            <a:r>
              <a:t>The project targets the gap between fault monitoring and autonomous, context-aware recovery.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3840480" cy="53035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Static thresholds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80" y="2002536"/>
            <a:ext cx="50292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94960" y="1737360"/>
            <a:ext cx="5897880" cy="530352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Limited understanding of complex service topology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560320"/>
            <a:ext cx="3840480" cy="53035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Metric-by-metric monitoring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54880" y="2825496"/>
            <a:ext cx="50292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94960" y="2560320"/>
            <a:ext cx="5897880" cy="530352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Telemetry and inter-service call graphs need joint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83280"/>
            <a:ext cx="3840480" cy="53035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Reactive fault handling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54880" y="3648456"/>
            <a:ext cx="50292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94960" y="3383280"/>
            <a:ext cx="5897880" cy="530352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Need to anticipate failure propagation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06240"/>
            <a:ext cx="3840480" cy="53035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Fixed recovery procedures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0" y="4471416"/>
            <a:ext cx="50292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94960" y="4206240"/>
            <a:ext cx="5897880" cy="530352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Need remediation selected using current system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29200"/>
            <a:ext cx="3840480" cy="53035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Manual recovery workflow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54880" y="5294376"/>
            <a:ext cx="50292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94960" y="5029200"/>
            <a:ext cx="5897880" cy="530352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Need automated execution and measurable recovery objectives</a:t>
            </a:r>
          </a:p>
        </p:txBody>
      </p:sp>
      <p:pic>
        <p:nvPicPr>
          <p:cNvPr id="22" name="Picture 21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How Our Project Addresses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078992"/>
            <a:ext cx="3474720" cy="65836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Multi-dimensional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143000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0">
                <a:solidFill>
                  <a:srgbClr val="25303C"/>
                </a:solidFill>
                <a:latin typeface="Aptos"/>
              </a:defRPr>
            </a:pPr>
            <a:r>
              <a:t>CPU • Memory • Latency • HTTP/gRPC calls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755648"/>
            <a:ext cx="0" cy="265176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2066543"/>
            <a:ext cx="3474720" cy="65836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Dynamic graph representation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30551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0">
                <a:solidFill>
                  <a:srgbClr val="25303C"/>
                </a:solidFill>
                <a:latin typeface="Aptos"/>
              </a:defRPr>
            </a:pPr>
            <a:r>
              <a:t>Spatiotemporal graph embeddings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2743200"/>
            <a:ext cx="0" cy="265176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054096"/>
            <a:ext cx="3474720" cy="65836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Generative GNN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18103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0">
                <a:solidFill>
                  <a:srgbClr val="25303C"/>
                </a:solidFill>
                <a:latin typeface="Aptos"/>
              </a:defRPr>
            </a:pPr>
            <a:r>
              <a:t>Anomaly detection • Root-cause localization • Failure propagation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3730752"/>
            <a:ext cx="0" cy="265176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4041648"/>
            <a:ext cx="3474720" cy="65836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Context-aware remediation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05656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0">
                <a:solidFill>
                  <a:srgbClr val="25303C"/>
                </a:solidFill>
                <a:latin typeface="Aptos"/>
              </a:defRPr>
            </a:pPr>
            <a:r>
              <a:t>Select actions based on system state and dependencies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60" y="4718304"/>
            <a:ext cx="0" cy="265176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5029200"/>
            <a:ext cx="3474720" cy="65836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Automated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093208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0">
                <a:solidFill>
                  <a:srgbClr val="25303C"/>
                </a:solidFill>
                <a:latin typeface="Aptos"/>
              </a:defRPr>
            </a:pPr>
            <a:r>
              <a:t>Reschedule containers • Circuit break • Reroute traffic</a:t>
            </a:r>
          </a:p>
        </p:txBody>
      </p:sp>
      <p:pic>
        <p:nvPicPr>
          <p:cNvPr id="20" name="Picture 19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16304E"/>
                </a:solidFill>
                <a:latin typeface="Aptos"/>
              </a:defRPr>
            </a:pPr>
            <a:r>
              <a:t>An autonomous self-healing framework built around a real-time MAPE-K control loop and Generative GNNs.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874519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73152" cy="1965960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148840"/>
            <a:ext cx="160019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14600"/>
            <a:ext cx="1600199" cy="1444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Collect telemetry every 100 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04872" y="3017520"/>
            <a:ext cx="36576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34639" y="2057400"/>
            <a:ext cx="1874519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39" y="2057400"/>
            <a:ext cx="73152" cy="19659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148840"/>
            <a:ext cx="160019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514600"/>
            <a:ext cx="1600199" cy="1444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Build graph embeddings and detect anomalies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36592" y="3017520"/>
            <a:ext cx="36576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59" y="2057400"/>
            <a:ext cx="1874519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66359" y="2057400"/>
            <a:ext cx="73152" cy="1965960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1" y="2148840"/>
            <a:ext cx="160019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2514600"/>
            <a:ext cx="1600199" cy="1444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Synthesize context-aware remediation graph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68312" y="3017520"/>
            <a:ext cx="365759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498079" y="2057400"/>
            <a:ext cx="1874519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2057400"/>
            <a:ext cx="73152" cy="1965960"/>
          </a:xfrm>
          <a:prstGeom prst="rect">
            <a:avLst/>
          </a:prstGeom>
          <a:solidFill>
            <a:srgbClr val="B14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1" y="2148840"/>
            <a:ext cx="160019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1" y="2514600"/>
            <a:ext cx="1600199" cy="1444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Apply the selected recovery action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00032" y="3017520"/>
            <a:ext cx="365760" cy="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829800" y="2057400"/>
            <a:ext cx="1874519" cy="196596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829800" y="2057400"/>
            <a:ext cx="73152" cy="1965960"/>
          </a:xfrm>
          <a:prstGeom prst="rect">
            <a:avLst/>
          </a:prstGeom>
          <a:solidFill>
            <a:srgbClr val="347E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2" y="2148840"/>
            <a:ext cx="1600199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4392" y="2514600"/>
            <a:ext cx="1600199" cy="1444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Maintain system context and operational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572000"/>
            <a:ext cx="10332720" cy="77724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1700" b="0">
                <a:solidFill>
                  <a:srgbClr val="25303C"/>
                </a:solidFill>
                <a:latin typeface="Aptos"/>
              </a:defRPr>
            </a:pPr>
            <a:r>
              <a:t>Feedback loop: execution outcomes update the knowledge base and inform the next monitoring and planning cycle.</a:t>
            </a:r>
          </a:p>
        </p:txBody>
      </p:sp>
      <p:pic>
        <p:nvPicPr>
          <p:cNvPr id="32" name="Picture 31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Existing vs Proposed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88720"/>
            <a:ext cx="5074920" cy="530352"/>
          </a:xfrm>
          <a:prstGeom prst="roundRect">
            <a:avLst/>
          </a:prstGeom>
          <a:solidFill>
            <a:srgbClr val="16304E"/>
          </a:solidFill>
          <a:ln>
            <a:solidFill>
              <a:srgbClr val="1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Existing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074920" cy="530352"/>
          </a:xfrm>
          <a:prstGeom prst="roundRect">
            <a:avLst/>
          </a:prstGeom>
          <a:solidFill>
            <a:srgbClr val="16304E"/>
          </a:solidFill>
          <a:ln>
            <a:solidFill>
              <a:srgbClr val="16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Proposed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074920" cy="530352"/>
          </a:xfrm>
          <a:prstGeom prst="roundRect">
            <a:avLst/>
          </a:prstGeom>
          <a:solidFill>
            <a:srgbClr val="F4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Static threshold-based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74920" cy="530352"/>
          </a:xfrm>
          <a:prstGeom prst="roundRect">
            <a:avLst/>
          </a:prstGeom>
          <a:solidFill>
            <a:srgbClr val="F4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Telemetry + dynamic graph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87168"/>
            <a:ext cx="5074920" cy="530352"/>
          </a:xfrm>
          <a:prstGeom prst="roundRect">
            <a:avLst/>
          </a:prstGeom>
          <a:solidFill>
            <a:srgbClr val="EBF4F8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Mostly isolated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87168"/>
            <a:ext cx="5074920" cy="530352"/>
          </a:xfrm>
          <a:prstGeom prst="roundRect">
            <a:avLst/>
          </a:prstGeom>
          <a:solidFill>
            <a:srgbClr val="EBF4F8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Metrics + inter-service call graphs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45536"/>
            <a:ext cx="5074920" cy="530352"/>
          </a:xfrm>
          <a:prstGeom prst="roundRect">
            <a:avLst/>
          </a:prstGeom>
          <a:solidFill>
            <a:srgbClr val="F4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Reactive anomaly response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145536"/>
            <a:ext cx="5074920" cy="530352"/>
          </a:xfrm>
          <a:prstGeom prst="roundRect">
            <a:avLst/>
          </a:prstGeom>
          <a:solidFill>
            <a:srgbClr val="F4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Predictive failure-propagation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03904"/>
            <a:ext cx="5074920" cy="530352"/>
          </a:xfrm>
          <a:prstGeom prst="roundRect">
            <a:avLst/>
          </a:prstGeom>
          <a:solidFill>
            <a:srgbClr val="EBF4F8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Manual root-cause investigation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03904"/>
            <a:ext cx="5074920" cy="530352"/>
          </a:xfrm>
          <a:prstGeom prst="roundRect">
            <a:avLst/>
          </a:prstGeom>
          <a:solidFill>
            <a:srgbClr val="EBF4F8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GNN-assisted root-cause localization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5074920" cy="530352"/>
          </a:xfrm>
          <a:prstGeom prst="roundRect">
            <a:avLst/>
          </a:prstGeom>
          <a:solidFill>
            <a:srgbClr val="F4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Operator-led recovery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62272"/>
            <a:ext cx="5074920" cy="530352"/>
          </a:xfrm>
          <a:prstGeom prst="roundRect">
            <a:avLst/>
          </a:prstGeom>
          <a:solidFill>
            <a:srgbClr val="F4F7FA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Automated context-aware remediation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5074920" cy="530352"/>
          </a:xfrm>
          <a:prstGeom prst="roundRect">
            <a:avLst/>
          </a:prstGeom>
          <a:solidFill>
            <a:srgbClr val="EBF4F8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Fixed/manual procedures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120640"/>
            <a:ext cx="5074920" cy="530352"/>
          </a:xfrm>
          <a:prstGeom prst="roundRect">
            <a:avLst/>
          </a:prstGeom>
          <a:solidFill>
            <a:srgbClr val="EBF4F8"/>
          </a:solidFill>
          <a:ln>
            <a:solidFill>
              <a:srgbClr val="DA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25303C"/>
                </a:solidFill>
              </a:defRPr>
            </a:pPr>
            <a:r>
              <a:t>Remediation graphs with MAPE-K feedback</a:t>
            </a:r>
          </a:p>
        </p:txBody>
      </p:sp>
      <p:pic>
        <p:nvPicPr>
          <p:cNvPr id="20" name="Picture 19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Technologies &amp; Technical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212080" cy="129844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129844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143000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Generative Graph Neural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508760"/>
            <a:ext cx="49377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Learn relationships and changing dependencies in service graphs.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51560"/>
            <a:ext cx="5212080" cy="129844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73152" cy="1298448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143000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MAPE-K control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508760"/>
            <a:ext cx="49377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Organizes monitoring, analysis, planning, execution, and knowledge.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24328"/>
            <a:ext cx="5212080" cy="129844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624328"/>
            <a:ext cx="73152" cy="129844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715768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Telemetry 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081528"/>
            <a:ext cx="49377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CPU, memory, request latency, and HTTP/gRPC call graphs.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624328"/>
            <a:ext cx="5212080" cy="129844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624328"/>
            <a:ext cx="73152" cy="1298448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715768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Spatiotemporal graph 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081528"/>
            <a:ext cx="49377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Represent how service states and dependencies change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97096"/>
            <a:ext cx="5212080" cy="129844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197096"/>
            <a:ext cx="73152" cy="129844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288536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Container orchestration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654296"/>
            <a:ext cx="49377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Container rescheduling, localized circuit breaking, and traffic rerouting.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197096"/>
            <a:ext cx="5212080" cy="129844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197096"/>
            <a:ext cx="73152" cy="1298448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4288536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Chaos engineering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654296"/>
            <a:ext cx="49377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0">
                <a:solidFill>
                  <a:srgbClr val="25303C"/>
                </a:solidFill>
                <a:latin typeface="Aptos"/>
              </a:defRPr>
            </a:pPr>
            <a:r>
              <a:t>Inject container crashes, memory leaks, and network partitions for resilience testing.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43600"/>
            <a:ext cx="1033272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000" b="0">
                <a:solidFill>
                  <a:srgbClr val="5C6C7A"/>
                </a:solidFill>
                <a:latin typeface="Aptos"/>
              </a:defRPr>
            </a:pPr>
            <a:r>
              <a:t>Note: The abstract names these components but does not specify particular software vendors or frameworks.</a:t>
            </a:r>
          </a:p>
        </p:txBody>
      </p:sp>
      <p:pic>
        <p:nvPicPr>
          <p:cNvPr id="31" name="Picture 30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987552"/>
            <a:ext cx="3657600" cy="502920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400" b="1">
                <a:solidFill>
                  <a:srgbClr val="16304E"/>
                </a:solidFill>
                <a:latin typeface="Aptos"/>
              </a:defRPr>
            </a:pPr>
            <a:r>
              <a:t>Distributed Microservices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499616"/>
            <a:ext cx="0" cy="237744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1810512"/>
            <a:ext cx="429768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Telemetry: CPU • Memory •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810512"/>
            <a:ext cx="4297680" cy="62179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Service Call Graphs: HTTP / gRPC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63240" y="2441448"/>
            <a:ext cx="2011680" cy="301752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086600" y="2441448"/>
            <a:ext cx="2011680" cy="301752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23360" y="2761488"/>
            <a:ext cx="4114800" cy="56692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Dynamic Spatiotemporal Graph Embeddings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337560"/>
            <a:ext cx="0" cy="22860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023360" y="3584448"/>
            <a:ext cx="4114800" cy="56692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400" b="1">
                <a:solidFill>
                  <a:srgbClr val="16304E"/>
                </a:solidFill>
                <a:latin typeface="Aptos"/>
              </a:defRPr>
            </a:pPr>
            <a:r>
              <a:t>Generative GNN Analysis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4160520"/>
            <a:ext cx="0" cy="228600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23360" y="4407408"/>
            <a:ext cx="4114800" cy="566928"/>
          </a:xfrm>
          <a:prstGeom prst="roundRect">
            <a:avLst/>
          </a:prstGeom>
          <a:solidFill>
            <a:srgbClr val="EBF4F8"/>
          </a:solidFill>
          <a:ln w="15240">
            <a:solidFill>
              <a:srgbClr val="DD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300" b="1">
                <a:solidFill>
                  <a:srgbClr val="16304E"/>
                </a:solidFill>
                <a:latin typeface="Aptos"/>
              </a:defRPr>
            </a:pPr>
            <a:r>
              <a:t>Remediation Graph + MAPE-K Planner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983480"/>
            <a:ext cx="0" cy="246888"/>
          </a:xfrm>
          <a:prstGeom prst="line">
            <a:avLst/>
          </a:prstGeom>
          <a:ln w="2032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5285232"/>
            <a:ext cx="3337560" cy="5669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Reschedule Containers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5285232"/>
            <a:ext cx="3337560" cy="5669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Localized Circuit Breaking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5285232"/>
            <a:ext cx="3337560" cy="56692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2563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200" b="1">
                <a:solidFill>
                  <a:srgbClr val="16304E"/>
                </a:solidFill>
                <a:latin typeface="Aptos"/>
              </a:defRPr>
            </a:pPr>
            <a:r>
              <a:t>Intelligent Traffic Rerouting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80560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100" b="1">
                <a:solidFill>
                  <a:srgbClr val="347E65"/>
                </a:solidFill>
                <a:latin typeface="Aptos"/>
              </a:defRPr>
            </a:pPr>
            <a:r>
              <a:t>Knowledge base</a:t>
            </a:r>
            <a:br/>
            <a:r>
              <a:t>feeds the loop</a:t>
            </a:r>
          </a:p>
        </p:txBody>
      </p:sp>
      <p:pic>
        <p:nvPicPr>
          <p:cNvPr id="22" name="Picture 21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Project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5212080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111556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143000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1. Monitoring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508760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5303C"/>
                </a:solidFill>
                <a:latin typeface="Aptos"/>
              </a:defRPr>
            </a:pPr>
            <a:r>
              <a:t>Collects system telemetry and service-call information at 100 ms intervals.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51560"/>
            <a:ext cx="5212080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51560"/>
            <a:ext cx="73152" cy="1115568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143000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2. Graph Construction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508760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5303C"/>
                </a:solidFill>
                <a:latin typeface="Aptos"/>
              </a:defRPr>
            </a:pPr>
            <a:r>
              <a:t>Transforms service relationships and telemetry into dynamic graph embeddings.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04872"/>
            <a:ext cx="5212080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404872"/>
            <a:ext cx="73152" cy="111556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2496312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3. GNN Analysis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2862072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5303C"/>
                </a:solidFill>
                <a:latin typeface="Aptos"/>
              </a:defRPr>
            </a:pPr>
            <a:r>
              <a:t>Detects anomalies, localizes root causes, and predicts fault propagation.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404872"/>
            <a:ext cx="5212080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2404872"/>
            <a:ext cx="73152" cy="1115568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496312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4. Remediation Planning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2862072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5303C"/>
                </a:solidFill>
                <a:latin typeface="Aptos"/>
              </a:defRPr>
            </a:pPr>
            <a:r>
              <a:t>Generates context-aware remediation graphs and selects recovery 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58183"/>
            <a:ext cx="5212080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58183"/>
            <a:ext cx="73152" cy="111556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3849623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5. Execution Module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215383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5303C"/>
                </a:solidFill>
                <a:latin typeface="Aptos"/>
              </a:defRPr>
            </a:pPr>
            <a:r>
              <a:t>Carries out container rescheduling, circuit breaking, or traffic rerouting.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758183"/>
            <a:ext cx="5212080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758183"/>
            <a:ext cx="73152" cy="1115568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849623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6. Knowledge &amp; Feedback Module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215383"/>
            <a:ext cx="493776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5303C"/>
                </a:solidFill>
                <a:latin typeface="Aptos"/>
              </a:defRPr>
            </a:pPr>
            <a:r>
              <a:t>Stores operational context and feeds execution outcomes into MAPE-K.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5166360"/>
            <a:ext cx="5212080" cy="86868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5166360"/>
            <a:ext cx="73152" cy="868680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39312" y="5257800"/>
            <a:ext cx="4937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7. Chaos &amp; Benchmark Module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9312" y="5623560"/>
            <a:ext cx="493776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>
                <a:solidFill>
                  <a:srgbClr val="25303C"/>
                </a:solidFill>
                <a:latin typeface="Aptos"/>
              </a:defRPr>
            </a:pPr>
            <a:r>
              <a:t>Injects faults and measures detection, recovery, and availability.</a:t>
            </a:r>
          </a:p>
        </p:txBody>
      </p:sp>
      <p:pic>
        <p:nvPicPr>
          <p:cNvPr id="34" name="Picture 33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Implementation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2412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16304E"/>
                </a:solidFill>
                <a:latin typeface="Aptos"/>
              </a:defRPr>
            </a:pPr>
            <a:r>
              <a:t>The abstract describes validation through injected failures and operational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47472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73152" cy="1691640"/>
          </a:xfrm>
          <a:prstGeom prst="rect">
            <a:avLst/>
          </a:prstGeom>
          <a:solidFill>
            <a:srgbClr val="B14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2024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Container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320040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5303C"/>
                </a:solidFill>
                <a:latin typeface="Aptos"/>
              </a:defRPr>
            </a:pPr>
            <a:r>
              <a:t>Check detection of a failed component and trigger recovery.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47472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73152" cy="1691640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92024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Memory leak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86000"/>
            <a:ext cx="320040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5303C"/>
                </a:solidFill>
                <a:latin typeface="Aptos"/>
              </a:defRPr>
            </a:pPr>
            <a:r>
              <a:t>Observe memory saturation and identify the affected service.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474720" cy="1691640"/>
          </a:xfrm>
          <a:prstGeom prst="roundRect">
            <a:avLst/>
          </a:prstGeom>
          <a:solidFill>
            <a:srgbClr val="F4F7FA"/>
          </a:solidFill>
          <a:ln>
            <a:solidFill>
              <a:srgbClr val="D7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73152" cy="1691640"/>
          </a:xfrm>
          <a:prstGeom prst="rect">
            <a:avLst/>
          </a:prstGeom>
          <a:solidFill>
            <a:srgbClr val="2563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920240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>
                <a:solidFill>
                  <a:srgbClr val="16304E"/>
                </a:solidFill>
                <a:latin typeface="Aptos"/>
              </a:defRPr>
            </a:pPr>
            <a:r>
              <a:t>Network partition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286000"/>
            <a:ext cx="3200400" cy="11704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>
                <a:solidFill>
                  <a:srgbClr val="25303C"/>
                </a:solidFill>
                <a:latin typeface="Aptos"/>
              </a:defRPr>
            </a:pPr>
            <a:r>
              <a:t>Evaluate disrupted communication and traffic rerouting.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03327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700" b="1">
                <a:solidFill>
                  <a:srgbClr val="008991"/>
                </a:solidFill>
                <a:latin typeface="Aptos"/>
              </a:defRPr>
            </a:pPr>
            <a:r>
              <a:t>Evaluation measures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26280"/>
            <a:ext cx="352044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100" b="1">
                <a:solidFill>
                  <a:srgbClr val="16304E"/>
                </a:solidFill>
                <a:latin typeface="Aptos"/>
              </a:defRPr>
            </a:pPr>
            <a:r>
              <a:t>Detection accuracy / F1-score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526280"/>
            <a:ext cx="352044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100" b="1">
                <a:solidFill>
                  <a:srgbClr val="16304E"/>
                </a:solidFill>
                <a:latin typeface="Aptos"/>
              </a:defRPr>
            </a:pPr>
            <a:r>
              <a:t>Root-cause localization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526280"/>
            <a:ext cx="352044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100" b="1">
                <a:solidFill>
                  <a:srgbClr val="16304E"/>
                </a:solidFill>
                <a:latin typeface="Aptos"/>
              </a:defRPr>
            </a:pPr>
            <a:r>
              <a:t>Remediation execution latency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352044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100" b="1">
                <a:solidFill>
                  <a:srgbClr val="16304E"/>
                </a:solidFill>
                <a:latin typeface="Aptos"/>
              </a:defRPr>
            </a:pPr>
            <a:r>
              <a:t>Mean Time to Resolution (MTTR)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166360"/>
            <a:ext cx="352044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100" b="1">
                <a:solidFill>
                  <a:srgbClr val="16304E"/>
                </a:solidFill>
                <a:latin typeface="Aptos"/>
              </a:defRPr>
            </a:pPr>
            <a:r>
              <a:t>Manual intervention 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5166360"/>
            <a:ext cx="3520440" cy="4572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008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defRPr sz="1100" b="1">
                <a:solidFill>
                  <a:srgbClr val="16304E"/>
                </a:solidFill>
                <a:latin typeface="Aptos"/>
              </a:defRPr>
            </a:pPr>
            <a:r>
              <a:t>Service availability under node failures</a:t>
            </a:r>
          </a:p>
        </p:txBody>
      </p:sp>
      <p:pic>
        <p:nvPicPr>
          <p:cNvPr id="26" name="Picture 25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Performance Targets &amp; Benchmark Claims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51760" cy="1536192"/>
          </a:xfrm>
          <a:prstGeom prst="roundRect">
            <a:avLst/>
          </a:prstGeom>
          <a:solidFill>
            <a:srgbClr val="EBF4F8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0876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008991"/>
                </a:solidFill>
                <a:latin typeface="Aptos"/>
              </a:defRPr>
            </a:pPr>
            <a:r>
              <a:t>&gt;96.5%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7568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Target accuracy</a:t>
            </a:r>
            <a:br/>
            <a:r>
              <a:t>for root-cause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25880"/>
            <a:ext cx="2651760" cy="1536192"/>
          </a:xfrm>
          <a:prstGeom prst="roundRect">
            <a:avLst/>
          </a:prstGeom>
          <a:solidFill>
            <a:srgbClr val="EBF4F8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50876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25639B"/>
                </a:solidFill>
                <a:latin typeface="Aptos"/>
              </a:defRPr>
            </a:pPr>
            <a:r>
              <a:t>0.94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07568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Target F1-score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25880"/>
            <a:ext cx="2651760" cy="1536192"/>
          </a:xfrm>
          <a:prstGeom prst="roundRect">
            <a:avLst/>
          </a:prstGeom>
          <a:solidFill>
            <a:srgbClr val="EBF4F8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50876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008991"/>
                </a:solidFill>
                <a:latin typeface="Aptos"/>
              </a:defRPr>
            </a:pPr>
            <a:r>
              <a:t>&lt;500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07568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Remediation execution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325880"/>
            <a:ext cx="2651760" cy="1536192"/>
          </a:xfrm>
          <a:prstGeom prst="roundRect">
            <a:avLst/>
          </a:prstGeom>
          <a:solidFill>
            <a:srgbClr val="EBF4F8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50876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25639B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207568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Reduction in MTTR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91839"/>
            <a:ext cx="2651760" cy="1536192"/>
          </a:xfrm>
          <a:prstGeom prst="roundRect">
            <a:avLst/>
          </a:prstGeom>
          <a:solidFill>
            <a:srgbClr val="F4F7FA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47472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008991"/>
                </a:solidFill>
                <a:latin typeface="Aptos"/>
              </a:defRPr>
            </a:pPr>
            <a:r>
              <a:t>&lt;1.2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04164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Recovery interval reported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291839"/>
            <a:ext cx="2651760" cy="1536192"/>
          </a:xfrm>
          <a:prstGeom prst="roundRect">
            <a:avLst/>
          </a:prstGeom>
          <a:solidFill>
            <a:srgbClr val="F4F7FA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47472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25639B"/>
                </a:solidFill>
                <a:latin typeface="Aptos"/>
              </a:defRPr>
            </a:pPr>
            <a:r>
              <a:t>&gt;85%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04164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Reduction in manual interventions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291839"/>
            <a:ext cx="2651760" cy="1536192"/>
          </a:xfrm>
          <a:prstGeom prst="roundRect">
            <a:avLst/>
          </a:prstGeom>
          <a:solidFill>
            <a:srgbClr val="F4F7FA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2" y="347472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008991"/>
                </a:solidFill>
                <a:latin typeface="Aptos"/>
              </a:defRPr>
            </a:pPr>
            <a:r>
              <a:t>99.99%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04164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High-availability target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3291839"/>
            <a:ext cx="2651760" cy="1536192"/>
          </a:xfrm>
          <a:prstGeom prst="roundRect">
            <a:avLst/>
          </a:prstGeom>
          <a:solidFill>
            <a:srgbClr val="F4F7FA"/>
          </a:solidFill>
          <a:ln>
            <a:solidFill>
              <a:srgbClr val="D5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54312" y="3474720"/>
            <a:ext cx="2505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400" b="1">
                <a:solidFill>
                  <a:srgbClr val="25639B"/>
                </a:solidFill>
                <a:latin typeface="Aptos"/>
              </a:defRPr>
            </a:pPr>
            <a: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0888" y="4041648"/>
            <a:ext cx="2432304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200" b="0">
                <a:solidFill>
                  <a:srgbClr val="25303C"/>
                </a:solidFill>
                <a:latin typeface="Aptos"/>
              </a:defRPr>
            </a:pPr>
            <a:r>
              <a:t>Concurrent node failure condition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10789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defRPr sz="1100" b="1">
                <a:solidFill>
                  <a:srgbClr val="B14C48"/>
                </a:solidFill>
                <a:latin typeface="Aptos"/>
              </a:defRPr>
            </a:pPr>
            <a:r>
              <a:t>Important: These figures are stated in the supplied abstract as targets or benchmark claims. Present them as validated results only when supported by experiment logs and measurements.</a:t>
            </a:r>
          </a:p>
        </p:txBody>
      </p:sp>
      <p:pic>
        <p:nvPicPr>
          <p:cNvPr id="31" name="Picture 30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500" b="1">
                <a:solidFill>
                  <a:srgbClr val="16304E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822960"/>
            <a:ext cx="2679192" cy="32004"/>
          </a:xfrm>
          <a:prstGeom prst="rect">
            <a:avLst/>
          </a:prstGeom>
          <a:solidFill>
            <a:srgbClr val="DD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75720" y="6537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0">
                <a:solidFill>
                  <a:srgbClr val="5C6C7A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32720" cy="822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defRPr sz="2100" b="1">
                <a:solidFill>
                  <a:srgbClr val="16304E"/>
                </a:solidFill>
                <a:latin typeface="Aptos"/>
              </a:defRPr>
            </a:pPr>
            <a:r>
              <a:t>The project proposes a context-aware self-healing framework for cloud-native distributed microservices.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418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5303C"/>
                </a:solidFill>
                <a:latin typeface="Aptos"/>
              </a:defRPr>
            </a:pPr>
            <a:r>
              <a:t>Combines real-time telemetry and service-call graphs.</a:t>
            </a:r>
          </a:p>
          <a:p>
            <a:pPr>
              <a:spcAft>
                <a:spcPts val="1200"/>
              </a:spcAft>
              <a:defRPr sz="1700">
                <a:solidFill>
                  <a:srgbClr val="25303C"/>
                </a:solidFill>
                <a:latin typeface="Aptos"/>
              </a:defRPr>
            </a:pPr>
            <a:r>
              <a:t>Uses Generative GNNs to analyze dependencies and predict failure propagation.</a:t>
            </a:r>
          </a:p>
          <a:p>
            <a:pPr>
              <a:spcAft>
                <a:spcPts val="1200"/>
              </a:spcAft>
              <a:defRPr sz="1700">
                <a:solidFill>
                  <a:srgbClr val="25303C"/>
                </a:solidFill>
                <a:latin typeface="Aptos"/>
              </a:defRPr>
            </a:pPr>
            <a:r>
              <a:t>Applies the MAPE-K loop to plan and execute automated remediation.</a:t>
            </a:r>
          </a:p>
          <a:p>
            <a:pPr>
              <a:spcAft>
                <a:spcPts val="1200"/>
              </a:spcAft>
              <a:defRPr sz="1700">
                <a:solidFill>
                  <a:srgbClr val="25303C"/>
                </a:solidFill>
                <a:latin typeface="Aptos"/>
              </a:defRPr>
            </a:pPr>
            <a:r>
              <a:t>Uses chaos engineering to evaluate fault handling and resilience.</a:t>
            </a:r>
          </a:p>
          <a:p>
            <a:pPr>
              <a:spcAft>
                <a:spcPts val="1200"/>
              </a:spcAft>
              <a:defRPr sz="1700">
                <a:solidFill>
                  <a:srgbClr val="25303C"/>
                </a:solidFill>
                <a:latin typeface="Aptos"/>
              </a:defRPr>
            </a:pPr>
            <a:r>
              <a:t>Targets faster recovery, fewer manual interventions, and high availability.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400" b="1">
                <a:solidFill>
                  <a:srgbClr val="008991"/>
                </a:solidFill>
                <a:latin typeface="Aptos"/>
              </a:defRPr>
            </a:pPr>
            <a:r>
              <a:t>THANK YOU</a:t>
            </a:r>
          </a:p>
        </p:txBody>
      </p:sp>
      <p:pic>
        <p:nvPicPr>
          <p:cNvPr id="9" name="Picture 8" descr="klh logo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164592"/>
            <a:ext cx="1051560" cy="3848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